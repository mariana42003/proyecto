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91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63547" y="2224326"/>
            <a:ext cx="7609840" cy="2448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9052" y="3099006"/>
            <a:ext cx="10153894" cy="1778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6696" y="2426361"/>
            <a:ext cx="570103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5400" dirty="0">
                <a:solidFill>
                  <a:srgbClr val="404040"/>
                </a:solidFill>
                <a:latin typeface="Arial"/>
                <a:cs typeface="Arial"/>
              </a:rPr>
              <a:t>Kronos</a:t>
            </a:r>
            <a:r>
              <a:rPr sz="5400" spc="-3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5400" spc="-10" dirty="0">
                <a:solidFill>
                  <a:srgbClr val="404040"/>
                </a:solidFill>
                <a:latin typeface="Arial"/>
                <a:cs typeface="Arial"/>
              </a:rPr>
              <a:t>Inventory Control</a:t>
            </a:r>
            <a:endParaRPr sz="5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7853" y="3947834"/>
            <a:ext cx="199453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 algn="r">
              <a:lnSpc>
                <a:spcPct val="114999"/>
              </a:lnSpc>
              <a:spcBef>
                <a:spcPts val="100"/>
              </a:spcBef>
            </a:pPr>
            <a:r>
              <a:rPr sz="1000" spc="-10" dirty="0">
                <a:latin typeface="Arial MT"/>
                <a:cs typeface="Arial MT"/>
              </a:rPr>
              <a:t>Mariana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Alejandra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Martínez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Duarte </a:t>
            </a:r>
            <a:r>
              <a:rPr sz="1000" dirty="0">
                <a:latin typeface="Arial MT"/>
                <a:cs typeface="Arial MT"/>
              </a:rPr>
              <a:t>Erick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Santiago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Vásquez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Reyes</a:t>
            </a:r>
            <a:endParaRPr sz="1000">
              <a:latin typeface="Arial MT"/>
              <a:cs typeface="Arial MT"/>
            </a:endParaRPr>
          </a:p>
          <a:p>
            <a:pPr marL="35560" marR="5080" indent="830580" algn="r">
              <a:lnSpc>
                <a:spcPct val="114999"/>
              </a:lnSpc>
            </a:pPr>
            <a:r>
              <a:rPr sz="1000" spc="-10" dirty="0">
                <a:latin typeface="Arial MT"/>
                <a:cs typeface="Arial MT"/>
              </a:rPr>
              <a:t>Evert</a:t>
            </a:r>
            <a:r>
              <a:rPr sz="1000" spc="-5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Arias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Fragoso Paula</a:t>
            </a:r>
            <a:r>
              <a:rPr sz="1000" spc="-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Alejandra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Mora</a:t>
            </a:r>
            <a:r>
              <a:rPr sz="1000" spc="-10" dirty="0">
                <a:latin typeface="Arial MT"/>
                <a:cs typeface="Arial MT"/>
              </a:rPr>
              <a:t> Montaña </a:t>
            </a:r>
            <a:r>
              <a:rPr sz="1000" dirty="0">
                <a:latin typeface="Arial MT"/>
                <a:cs typeface="Arial MT"/>
              </a:rPr>
              <a:t>Manuel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Esteban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Vigoya</a:t>
            </a:r>
            <a:r>
              <a:rPr sz="1000" spc="2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Gonzalez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7375" y="5081675"/>
            <a:ext cx="3297624" cy="7689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443" rIns="0" bIns="0" rtlCol="0">
            <a:spAutoFit/>
          </a:bodyPr>
          <a:lstStyle/>
          <a:p>
            <a:pPr marL="66167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Objetivo</a:t>
            </a:r>
            <a:r>
              <a:rPr spc="-75" dirty="0"/>
              <a:t> </a:t>
            </a:r>
            <a:r>
              <a:rPr spc="114" dirty="0"/>
              <a:t>general</a:t>
            </a:r>
          </a:p>
        </p:txBody>
      </p:sp>
      <p:sp>
        <p:nvSpPr>
          <p:cNvPr id="3" name="object 3"/>
          <p:cNvSpPr/>
          <p:nvPr/>
        </p:nvSpPr>
        <p:spPr>
          <a:xfrm>
            <a:off x="1285999" y="3741925"/>
            <a:ext cx="10157460" cy="60325"/>
          </a:xfrm>
          <a:custGeom>
            <a:avLst/>
            <a:gdLst/>
            <a:ahLst/>
            <a:cxnLst/>
            <a:rect l="l" t="t" r="r" b="b"/>
            <a:pathLst>
              <a:path w="10157460" h="60325">
                <a:moveTo>
                  <a:pt x="0" y="0"/>
                </a:moveTo>
                <a:lnTo>
                  <a:pt x="10157399" y="59699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" marR="5080" indent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Desarrollar</a:t>
            </a:r>
            <a:r>
              <a:rPr spc="-20" dirty="0"/>
              <a:t> </a:t>
            </a:r>
            <a:r>
              <a:rPr dirty="0"/>
              <a:t>un</a:t>
            </a:r>
            <a:r>
              <a:rPr spc="-15" dirty="0"/>
              <a:t> </a:t>
            </a:r>
            <a:r>
              <a:rPr dirty="0"/>
              <a:t>sistema</a:t>
            </a:r>
            <a:r>
              <a:rPr spc="-15" dirty="0"/>
              <a:t> </a:t>
            </a:r>
            <a:r>
              <a:rPr dirty="0"/>
              <a:t>integral</a:t>
            </a:r>
            <a:r>
              <a:rPr spc="-20" dirty="0"/>
              <a:t> </a:t>
            </a:r>
            <a:r>
              <a:rPr dirty="0"/>
              <a:t>que</a:t>
            </a:r>
            <a:r>
              <a:rPr spc="-15" dirty="0"/>
              <a:t> </a:t>
            </a:r>
            <a:r>
              <a:rPr dirty="0"/>
              <a:t>permita</a:t>
            </a:r>
            <a:r>
              <a:rPr spc="-15" dirty="0"/>
              <a:t> </a:t>
            </a:r>
            <a:r>
              <a:rPr dirty="0"/>
              <a:t>gestionar</a:t>
            </a:r>
            <a:r>
              <a:rPr spc="-20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controlar</a:t>
            </a:r>
            <a:r>
              <a:rPr spc="-15" dirty="0"/>
              <a:t> </a:t>
            </a:r>
            <a:r>
              <a:rPr dirty="0"/>
              <a:t>el</a:t>
            </a:r>
            <a:r>
              <a:rPr spc="-15" dirty="0"/>
              <a:t> </a:t>
            </a:r>
            <a:r>
              <a:rPr spc="-10" dirty="0"/>
              <a:t>inventario, </a:t>
            </a:r>
            <a:r>
              <a:rPr dirty="0"/>
              <a:t>mediante</a:t>
            </a:r>
            <a:r>
              <a:rPr spc="-20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dirty="0"/>
              <a:t>registro</a:t>
            </a:r>
            <a:r>
              <a:rPr spc="-20" dirty="0"/>
              <a:t> </a:t>
            </a:r>
            <a:r>
              <a:rPr dirty="0"/>
              <a:t>en</a:t>
            </a:r>
            <a:r>
              <a:rPr spc="-15" dirty="0"/>
              <a:t> </a:t>
            </a:r>
            <a:r>
              <a:rPr dirty="0"/>
              <a:t>línea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entradas</a:t>
            </a:r>
            <a:r>
              <a:rPr spc="-20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salidas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materiales,</a:t>
            </a:r>
            <a:r>
              <a:rPr spc="-20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spc="-10" dirty="0"/>
              <a:t>validación </a:t>
            </a:r>
            <a:r>
              <a:rPr dirty="0"/>
              <a:t>del</a:t>
            </a:r>
            <a:r>
              <a:rPr spc="-30" dirty="0"/>
              <a:t> </a:t>
            </a:r>
            <a:r>
              <a:rPr dirty="0"/>
              <a:t>estado</a:t>
            </a:r>
            <a:r>
              <a:rPr spc="-25" dirty="0"/>
              <a:t> </a:t>
            </a:r>
            <a:r>
              <a:rPr dirty="0"/>
              <a:t>del</a:t>
            </a:r>
            <a:r>
              <a:rPr spc="-25" dirty="0"/>
              <a:t> </a:t>
            </a:r>
            <a:r>
              <a:rPr dirty="0"/>
              <a:t>stock</a:t>
            </a:r>
            <a:r>
              <a:rPr spc="-30" dirty="0"/>
              <a:t> </a:t>
            </a:r>
            <a:r>
              <a:rPr dirty="0"/>
              <a:t>y</a:t>
            </a:r>
            <a:r>
              <a:rPr spc="-25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dirty="0"/>
              <a:t>administración</a:t>
            </a:r>
            <a:r>
              <a:rPr spc="-2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garantías,</a:t>
            </a:r>
            <a:r>
              <a:rPr spc="-25" dirty="0"/>
              <a:t> </a:t>
            </a:r>
            <a:r>
              <a:rPr dirty="0"/>
              <a:t>facilitando</a:t>
            </a:r>
            <a:r>
              <a:rPr spc="-25" dirty="0"/>
              <a:t> </a:t>
            </a:r>
            <a:r>
              <a:rPr dirty="0"/>
              <a:t>tanto</a:t>
            </a:r>
            <a:r>
              <a:rPr spc="-25" dirty="0"/>
              <a:t> los </a:t>
            </a:r>
            <a:r>
              <a:rPr dirty="0"/>
              <a:t>procesos</a:t>
            </a:r>
            <a:r>
              <a:rPr spc="-15" dirty="0"/>
              <a:t> </a:t>
            </a:r>
            <a:r>
              <a:rPr dirty="0"/>
              <a:t>administrativos</a:t>
            </a:r>
            <a:r>
              <a:rPr spc="-15" dirty="0"/>
              <a:t> </a:t>
            </a:r>
            <a:r>
              <a:rPr dirty="0"/>
              <a:t>como</a:t>
            </a:r>
            <a:r>
              <a:rPr spc="-15" dirty="0"/>
              <a:t> </a:t>
            </a:r>
            <a:r>
              <a:rPr dirty="0"/>
              <a:t>la</a:t>
            </a:r>
            <a:r>
              <a:rPr spc="-15" dirty="0"/>
              <a:t> </a:t>
            </a:r>
            <a:r>
              <a:rPr dirty="0"/>
              <a:t>interacción</a:t>
            </a:r>
            <a:r>
              <a:rPr spc="-15" dirty="0"/>
              <a:t> </a:t>
            </a:r>
            <a:r>
              <a:rPr dirty="0"/>
              <a:t>y</a:t>
            </a:r>
            <a:r>
              <a:rPr spc="-15" dirty="0"/>
              <a:t> </a:t>
            </a:r>
            <a:r>
              <a:rPr dirty="0"/>
              <a:t>atención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los</a:t>
            </a:r>
            <a:r>
              <a:rPr spc="-15" dirty="0"/>
              <a:t> </a:t>
            </a:r>
            <a:r>
              <a:rPr dirty="0"/>
              <a:t>clientes</a:t>
            </a:r>
            <a:r>
              <a:rPr spc="-15" dirty="0"/>
              <a:t> </a:t>
            </a:r>
            <a:r>
              <a:rPr dirty="0"/>
              <a:t>de</a:t>
            </a:r>
            <a:r>
              <a:rPr spc="-15" dirty="0"/>
              <a:t> </a:t>
            </a:r>
            <a:r>
              <a:rPr spc="-25" dirty="0"/>
              <a:t>la </a:t>
            </a:r>
            <a:r>
              <a:rPr dirty="0"/>
              <a:t>Ferretería</a:t>
            </a:r>
            <a:r>
              <a:rPr spc="-35" dirty="0"/>
              <a:t> </a:t>
            </a:r>
            <a:r>
              <a:rPr dirty="0"/>
              <a:t>y</a:t>
            </a:r>
            <a:r>
              <a:rPr spc="-35" dirty="0"/>
              <a:t> </a:t>
            </a:r>
            <a:r>
              <a:rPr dirty="0"/>
              <a:t>Perfilería</a:t>
            </a:r>
            <a:r>
              <a:rPr spc="-35" dirty="0"/>
              <a:t> </a:t>
            </a:r>
            <a:r>
              <a:rPr spc="-10" dirty="0"/>
              <a:t>Solmet.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692023" y="1200794"/>
            <a:ext cx="61683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>
                <a:solidFill>
                  <a:srgbClr val="000000"/>
                </a:solidFill>
              </a:rPr>
              <a:t>Objetivo</a:t>
            </a:r>
            <a:r>
              <a:rPr spc="-75" dirty="0">
                <a:solidFill>
                  <a:srgbClr val="000000"/>
                </a:solidFill>
              </a:rPr>
              <a:t> </a:t>
            </a:r>
            <a:r>
              <a:rPr spc="114" dirty="0">
                <a:solidFill>
                  <a:srgbClr val="000000"/>
                </a:solidFill>
              </a:rPr>
              <a:t>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443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Objetivo</a:t>
            </a:r>
            <a:r>
              <a:rPr spc="-75" dirty="0"/>
              <a:t> </a:t>
            </a:r>
            <a:r>
              <a:rPr spc="235" dirty="0"/>
              <a:t>especifcos</a:t>
            </a:r>
          </a:p>
        </p:txBody>
      </p:sp>
      <p:sp>
        <p:nvSpPr>
          <p:cNvPr id="3" name="object 3"/>
          <p:cNvSpPr/>
          <p:nvPr/>
        </p:nvSpPr>
        <p:spPr>
          <a:xfrm>
            <a:off x="1285999" y="3741925"/>
            <a:ext cx="10157460" cy="60325"/>
          </a:xfrm>
          <a:custGeom>
            <a:avLst/>
            <a:gdLst/>
            <a:ahLst/>
            <a:cxnLst/>
            <a:rect l="l" t="t" r="r" b="b"/>
            <a:pathLst>
              <a:path w="10157460" h="60325">
                <a:moveTo>
                  <a:pt x="0" y="0"/>
                </a:moveTo>
                <a:lnTo>
                  <a:pt x="10157399" y="59699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5475" y="2783030"/>
            <a:ext cx="10010775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811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Gestionar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los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movimientos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entrada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salida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materiales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través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plataforma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web,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así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como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generar </a:t>
            </a:r>
            <a:r>
              <a:rPr sz="1500" b="1" dirty="0">
                <a:latin typeface="Arial"/>
                <a:cs typeface="Arial"/>
              </a:rPr>
              <a:t>alertas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automáticas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para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el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control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niveles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inventario.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Arial"/>
              <a:cs typeface="Arial"/>
            </a:endParaRPr>
          </a:p>
          <a:p>
            <a:pPr marL="12700" marR="949325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Administrar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el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registro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clasificación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los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materiales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dentro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del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sistema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web,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garantizando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una </a:t>
            </a:r>
            <a:r>
              <a:rPr sz="1500" b="1" dirty="0">
                <a:latin typeface="Arial"/>
                <a:cs typeface="Arial"/>
              </a:rPr>
              <a:t>organización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clara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una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consulta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eficiente.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500" b="1" dirty="0">
                <a:latin typeface="Arial"/>
                <a:cs typeface="Arial"/>
              </a:rPr>
              <a:t>Gestionar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la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información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proveedores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generar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órdenes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compra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mediante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el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sistema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web,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facilitando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spc="-25" dirty="0">
                <a:latin typeface="Arial"/>
                <a:cs typeface="Arial"/>
              </a:rPr>
              <a:t>el </a:t>
            </a:r>
            <a:r>
              <a:rPr sz="1500" b="1" dirty="0">
                <a:latin typeface="Arial"/>
                <a:cs typeface="Arial"/>
              </a:rPr>
              <a:t>proceso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abastecimiento.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500">
              <a:latin typeface="Arial"/>
              <a:cs typeface="Arial"/>
            </a:endParaRPr>
          </a:p>
          <a:p>
            <a:pPr marL="12700" marR="872490">
              <a:lnSpc>
                <a:spcPct val="100000"/>
              </a:lnSpc>
            </a:pPr>
            <a:r>
              <a:rPr sz="1500" b="1" spc="-10" dirty="0">
                <a:latin typeface="Arial"/>
                <a:cs typeface="Arial"/>
              </a:rPr>
              <a:t>Validar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gestionar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las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solicitudes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garantía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través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de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la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plataforma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web,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permitiendo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su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registro, </a:t>
            </a:r>
            <a:r>
              <a:rPr sz="1500" b="1" dirty="0">
                <a:latin typeface="Arial"/>
                <a:cs typeface="Arial"/>
              </a:rPr>
              <a:t>seguimiento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y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control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en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spc="-10" dirty="0">
                <a:latin typeface="Arial"/>
                <a:cs typeface="Arial"/>
              </a:rPr>
              <a:t>línea.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60098" y="1200794"/>
            <a:ext cx="80314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>
                <a:solidFill>
                  <a:srgbClr val="000000"/>
                </a:solidFill>
              </a:rPr>
              <a:t>Objetivos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265" dirty="0">
                <a:solidFill>
                  <a:srgbClr val="000000"/>
                </a:solidFill>
              </a:rPr>
              <a:t>especíﬁcos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6875" y="1731695"/>
            <a:ext cx="994092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Casos</a:t>
            </a:r>
            <a:r>
              <a:rPr spc="-90" dirty="0"/>
              <a:t> </a:t>
            </a:r>
            <a:r>
              <a:rPr spc="135" dirty="0"/>
              <a:t>de</a:t>
            </a:r>
            <a:r>
              <a:rPr spc="-85" dirty="0"/>
              <a:t> </a:t>
            </a:r>
            <a:r>
              <a:rPr spc="295" dirty="0"/>
              <a:t>uso</a:t>
            </a:r>
            <a:r>
              <a:rPr spc="-150" dirty="0"/>
              <a:t> </a:t>
            </a:r>
            <a:r>
              <a:rPr spc="160" dirty="0"/>
              <a:t>y</a:t>
            </a:r>
            <a:r>
              <a:rPr spc="-260" dirty="0"/>
              <a:t> </a:t>
            </a:r>
            <a:r>
              <a:rPr spc="204" dirty="0"/>
              <a:t>formato</a:t>
            </a:r>
            <a:r>
              <a:rPr spc="-90" dirty="0"/>
              <a:t> </a:t>
            </a:r>
            <a:r>
              <a:rPr spc="110" dirty="0"/>
              <a:t>de </a:t>
            </a:r>
            <a:r>
              <a:rPr spc="210" dirty="0"/>
              <a:t>especiﬁcación</a:t>
            </a:r>
            <a:r>
              <a:rPr spc="-60" dirty="0"/>
              <a:t> </a:t>
            </a:r>
            <a:r>
              <a:rPr spc="135" dirty="0"/>
              <a:t>de</a:t>
            </a:r>
            <a:r>
              <a:rPr spc="-60" dirty="0"/>
              <a:t> </a:t>
            </a:r>
            <a:r>
              <a:rPr spc="370" dirty="0"/>
              <a:t>casos </a:t>
            </a:r>
            <a:r>
              <a:rPr spc="135" dirty="0"/>
              <a:t>de</a:t>
            </a:r>
            <a:r>
              <a:rPr spc="-90" dirty="0"/>
              <a:t> </a:t>
            </a:r>
            <a:r>
              <a:rPr spc="270" dirty="0"/>
              <a:t>uso</a:t>
            </a:r>
          </a:p>
        </p:txBody>
      </p:sp>
      <p:sp>
        <p:nvSpPr>
          <p:cNvPr id="3" name="object 3"/>
          <p:cNvSpPr/>
          <p:nvPr/>
        </p:nvSpPr>
        <p:spPr>
          <a:xfrm>
            <a:off x="1265949" y="4784649"/>
            <a:ext cx="10157460" cy="60325"/>
          </a:xfrm>
          <a:custGeom>
            <a:avLst/>
            <a:gdLst/>
            <a:ahLst/>
            <a:cxnLst/>
            <a:rect l="l" t="t" r="r" b="b"/>
            <a:pathLst>
              <a:path w="10157460" h="60325">
                <a:moveTo>
                  <a:pt x="0" y="0"/>
                </a:moveTo>
                <a:lnTo>
                  <a:pt x="10157399" y="59699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4425" y="6222062"/>
            <a:ext cx="10909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https://docs.google.com/document/d/1arLEaDakyOLoEbVBe2sJd2RgONwhEFJe/edit?usp=sharing&amp;ouid=109557934801182001784&amp;rtpof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=true&amp;sd=true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8CD3074-C8CE-C952-9034-C3E7E52D2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092" y="355407"/>
            <a:ext cx="9372600" cy="5476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5300" spc="130" dirty="0"/>
              <a:t>Formato</a:t>
            </a:r>
            <a:r>
              <a:rPr sz="5300" spc="-70" dirty="0"/>
              <a:t> </a:t>
            </a:r>
            <a:r>
              <a:rPr sz="5300" spc="120" dirty="0"/>
              <a:t>de</a:t>
            </a:r>
            <a:r>
              <a:rPr sz="5300" spc="-70" dirty="0"/>
              <a:t> </a:t>
            </a:r>
            <a:r>
              <a:rPr sz="5300" spc="130" dirty="0"/>
              <a:t>informe</a:t>
            </a:r>
            <a:r>
              <a:rPr sz="5300" spc="-70" dirty="0"/>
              <a:t> </a:t>
            </a:r>
            <a:r>
              <a:rPr sz="5300" spc="95" dirty="0"/>
              <a:t>de </a:t>
            </a:r>
            <a:r>
              <a:rPr sz="5300" spc="305" dirty="0"/>
              <a:t>costos</a:t>
            </a:r>
            <a:r>
              <a:rPr sz="5300" spc="-120" dirty="0"/>
              <a:t> </a:t>
            </a:r>
            <a:r>
              <a:rPr sz="5300" spc="140" dirty="0"/>
              <a:t>y</a:t>
            </a:r>
            <a:r>
              <a:rPr sz="5300" spc="-185" dirty="0"/>
              <a:t> </a:t>
            </a:r>
            <a:r>
              <a:rPr sz="5300" spc="375" dirty="0"/>
              <a:t>anilisis</a:t>
            </a:r>
            <a:r>
              <a:rPr sz="5300" spc="-70" dirty="0"/>
              <a:t> </a:t>
            </a:r>
            <a:r>
              <a:rPr sz="5300" spc="95" dirty="0"/>
              <a:t>de </a:t>
            </a:r>
            <a:r>
              <a:rPr sz="5300" spc="110" dirty="0"/>
              <a:t>proveedores</a:t>
            </a:r>
            <a:endParaRPr sz="5300"/>
          </a:p>
        </p:txBody>
      </p:sp>
      <p:sp>
        <p:nvSpPr>
          <p:cNvPr id="3" name="object 3"/>
          <p:cNvSpPr/>
          <p:nvPr/>
        </p:nvSpPr>
        <p:spPr>
          <a:xfrm>
            <a:off x="758099" y="4925500"/>
            <a:ext cx="10676255" cy="0"/>
          </a:xfrm>
          <a:custGeom>
            <a:avLst/>
            <a:gdLst/>
            <a:ahLst/>
            <a:cxnLst/>
            <a:rect l="l" t="t" r="r" b="b"/>
            <a:pathLst>
              <a:path w="10676255">
                <a:moveTo>
                  <a:pt x="0" y="0"/>
                </a:moveTo>
                <a:lnTo>
                  <a:pt x="10675799" y="0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9360" y="225531"/>
            <a:ext cx="82257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spc="100" dirty="0"/>
              <a:t>FORMATO</a:t>
            </a:r>
            <a:r>
              <a:rPr sz="2600" spc="-30" dirty="0"/>
              <a:t> </a:t>
            </a:r>
            <a:r>
              <a:rPr sz="2600" spc="170" dirty="0"/>
              <a:t>DE</a:t>
            </a:r>
            <a:r>
              <a:rPr sz="2600" spc="-25" dirty="0"/>
              <a:t> </a:t>
            </a:r>
            <a:r>
              <a:rPr sz="2600" spc="175" dirty="0"/>
              <a:t>INFORME</a:t>
            </a:r>
            <a:r>
              <a:rPr sz="2600" spc="-30" dirty="0"/>
              <a:t> </a:t>
            </a:r>
            <a:r>
              <a:rPr sz="2600" spc="170" dirty="0"/>
              <a:t>DE</a:t>
            </a:r>
            <a:r>
              <a:rPr sz="2600" spc="-25" dirty="0"/>
              <a:t> </a:t>
            </a:r>
            <a:r>
              <a:rPr sz="2600" spc="160" dirty="0"/>
              <a:t>COSTOS</a:t>
            </a:r>
            <a:r>
              <a:rPr sz="2600" spc="-105" dirty="0"/>
              <a:t> </a:t>
            </a:r>
            <a:r>
              <a:rPr sz="2600" spc="95" dirty="0"/>
              <a:t>Y</a:t>
            </a:r>
            <a:r>
              <a:rPr sz="2600" spc="-160" dirty="0"/>
              <a:t> </a:t>
            </a:r>
            <a:r>
              <a:rPr sz="2600" spc="170" dirty="0"/>
              <a:t>ANÁLISIS</a:t>
            </a:r>
            <a:r>
              <a:rPr sz="2600" spc="-25" dirty="0"/>
              <a:t> </a:t>
            </a:r>
            <a:r>
              <a:rPr sz="2600" spc="145" dirty="0"/>
              <a:t>DE </a:t>
            </a:r>
            <a:r>
              <a:rPr sz="2600" spc="160" dirty="0"/>
              <a:t>PROVEEDORES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233524" y="3494913"/>
            <a:ext cx="11819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https://docs.google.com/document/d/1vLTVYKRbVKWFZBsqTa42fGEsfSaCO11N/edit?usp=sharing&amp;ouid=109557934801182001784&amp;rtpof=true&amp;sd=t</a:t>
            </a:r>
            <a:r>
              <a:rPr sz="1400" spc="-10" dirty="0">
                <a:solidFill>
                  <a:srgbClr val="0563C1"/>
                </a:solidFill>
                <a:latin typeface="Arial MT"/>
                <a:cs typeface="Arial MT"/>
              </a:rPr>
              <a:t> </a:t>
            </a:r>
            <a:r>
              <a:rPr sz="1400" u="heavy" spc="-25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rue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19" rIns="0" bIns="0" rtlCol="0">
            <a:spAutoFit/>
          </a:bodyPr>
          <a:lstStyle/>
          <a:p>
            <a:pPr marL="1245235">
              <a:lnSpc>
                <a:spcPct val="100000"/>
              </a:lnSpc>
              <a:spcBef>
                <a:spcPts val="100"/>
              </a:spcBef>
            </a:pPr>
            <a:r>
              <a:rPr spc="160" dirty="0"/>
              <a:t>Cotizaciones</a:t>
            </a:r>
          </a:p>
        </p:txBody>
      </p:sp>
      <p:sp>
        <p:nvSpPr>
          <p:cNvPr id="3" name="object 3"/>
          <p:cNvSpPr/>
          <p:nvPr/>
        </p:nvSpPr>
        <p:spPr>
          <a:xfrm>
            <a:off x="758099" y="3749275"/>
            <a:ext cx="10676255" cy="0"/>
          </a:xfrm>
          <a:custGeom>
            <a:avLst/>
            <a:gdLst/>
            <a:ahLst/>
            <a:cxnLst/>
            <a:rect l="l" t="t" r="r" b="b"/>
            <a:pathLst>
              <a:path w="10676255">
                <a:moveTo>
                  <a:pt x="0" y="0"/>
                </a:moveTo>
                <a:lnTo>
                  <a:pt x="10675799" y="0"/>
                </a:lnTo>
              </a:path>
            </a:pathLst>
          </a:custGeom>
          <a:ln w="126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9261" y="379910"/>
            <a:ext cx="2898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90" dirty="0"/>
              <a:t>Cotizaciones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663" y="2727175"/>
            <a:ext cx="11572675" cy="19250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1175" y="4718138"/>
            <a:ext cx="90112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u="heavy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Arial MT"/>
                <a:cs typeface="Arial MT"/>
              </a:rPr>
              <a:t>https://docs.google.com/spreadsheets/d/1dN_-X6qpmw1Zn25wwrsKZU4dD3diwty1rIvj0DYxoNE/edit?usp=sharing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8437"/>
            <a:ext cx="12192000" cy="1224915"/>
            <a:chOff x="0" y="1258437"/>
            <a:chExt cx="12192000" cy="12249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58437"/>
              <a:ext cx="12192000" cy="2926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258437"/>
              <a:ext cx="12192000" cy="2926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570609"/>
              <a:ext cx="12192000" cy="2048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570609"/>
              <a:ext cx="12192000" cy="204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71769" y="1804737"/>
              <a:ext cx="1248460" cy="6779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71769" y="1804737"/>
              <a:ext cx="1248460" cy="677995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4593945" y="3453387"/>
            <a:ext cx="3009265" cy="375920"/>
          </a:xfrm>
          <a:custGeom>
            <a:avLst/>
            <a:gdLst/>
            <a:ahLst/>
            <a:cxnLst/>
            <a:rect l="l" t="t" r="r" b="b"/>
            <a:pathLst>
              <a:path w="3009265" h="375920">
                <a:moveTo>
                  <a:pt x="3008985" y="375580"/>
                </a:moveTo>
                <a:lnTo>
                  <a:pt x="0" y="375580"/>
                </a:lnTo>
                <a:lnTo>
                  <a:pt x="0" y="0"/>
                </a:lnTo>
                <a:lnTo>
                  <a:pt x="3008985" y="0"/>
                </a:lnTo>
                <a:lnTo>
                  <a:pt x="3008985" y="375580"/>
                </a:lnTo>
                <a:close/>
              </a:path>
            </a:pathLst>
          </a:custGeom>
          <a:solidFill>
            <a:srgbClr val="01A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552048" y="3262652"/>
            <a:ext cx="3051810" cy="683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300" spc="-270" dirty="0">
                <a:solidFill>
                  <a:srgbClr val="FFFFFF"/>
                </a:solidFill>
                <a:latin typeface="Arial MT"/>
                <a:cs typeface="Arial MT"/>
              </a:rPr>
              <a:t>G</a:t>
            </a:r>
            <a:r>
              <a:rPr sz="4300" spc="-3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00" spc="-195" dirty="0">
                <a:solidFill>
                  <a:srgbClr val="FFFFFF"/>
                </a:solidFill>
                <a:latin typeface="Arial MT"/>
                <a:cs typeface="Arial MT"/>
              </a:rPr>
              <a:t>R</a:t>
            </a:r>
            <a:r>
              <a:rPr sz="4300" spc="-2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00" spc="265" dirty="0">
                <a:solidFill>
                  <a:srgbClr val="FFFFFF"/>
                </a:solidFill>
                <a:latin typeface="Arial MT"/>
                <a:cs typeface="Arial MT"/>
              </a:rPr>
              <a:t>AC</a:t>
            </a:r>
            <a:r>
              <a:rPr sz="4300" spc="-4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00" spc="105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43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4300" spc="2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endParaRPr sz="43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5550785"/>
            <a:ext cx="12187555" cy="678180"/>
          </a:xfrm>
          <a:custGeom>
            <a:avLst/>
            <a:gdLst/>
            <a:ahLst/>
            <a:cxnLst/>
            <a:rect l="l" t="t" r="r" b="b"/>
            <a:pathLst>
              <a:path w="12187555" h="678179">
                <a:moveTo>
                  <a:pt x="12187122" y="677995"/>
                </a:moveTo>
                <a:lnTo>
                  <a:pt x="0" y="677995"/>
                </a:lnTo>
                <a:lnTo>
                  <a:pt x="0" y="0"/>
                </a:lnTo>
                <a:lnTo>
                  <a:pt x="12187122" y="0"/>
                </a:lnTo>
                <a:lnTo>
                  <a:pt x="12187122" y="677995"/>
                </a:lnTo>
                <a:close/>
              </a:path>
            </a:pathLst>
          </a:custGeom>
          <a:solidFill>
            <a:srgbClr val="00A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07521" y="5668562"/>
            <a:ext cx="4956175" cy="3549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55930" algn="l"/>
                <a:tab pos="850900" algn="l"/>
                <a:tab pos="1242695" algn="l"/>
                <a:tab pos="1636395" algn="l"/>
                <a:tab pos="2470150" algn="l"/>
              </a:tabLst>
            </a:pPr>
            <a:r>
              <a:rPr sz="3225" spc="165" baseline="14211" dirty="0">
                <a:solidFill>
                  <a:srgbClr val="FFFFFF"/>
                </a:solidFill>
                <a:latin typeface="Arial Black"/>
                <a:cs typeface="Arial Black"/>
              </a:rPr>
              <a:t>G</a:t>
            </a:r>
            <a:r>
              <a:rPr sz="3225" baseline="14211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3225" spc="135" baseline="14211" dirty="0">
                <a:solidFill>
                  <a:srgbClr val="FFFFFF"/>
                </a:solidFill>
                <a:latin typeface="Arial Black"/>
                <a:cs typeface="Arial Black"/>
              </a:rPr>
              <a:t>@</a:t>
            </a:r>
            <a:r>
              <a:rPr sz="3225" baseline="14211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3225" spc="120" baseline="14211" dirty="0">
                <a:solidFill>
                  <a:srgbClr val="FFFFFF"/>
                </a:solidFill>
                <a:latin typeface="Arial Black"/>
                <a:cs typeface="Arial Black"/>
              </a:rPr>
              <a:t>@</a:t>
            </a:r>
            <a:r>
              <a:rPr sz="3225" baseline="14211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3225" spc="165" baseline="14211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3225" baseline="14211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3225" spc="284" baseline="14211" dirty="0">
                <a:solidFill>
                  <a:srgbClr val="FFFFFF"/>
                </a:solidFill>
                <a:latin typeface="Arial Black"/>
                <a:cs typeface="Arial Black"/>
              </a:rPr>
              <a:t>%</a:t>
            </a:r>
            <a:r>
              <a:rPr sz="3225" spc="277" baseline="14211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3225" spc="135" baseline="14211" dirty="0">
                <a:solidFill>
                  <a:srgbClr val="FFFFFF"/>
                </a:solidFill>
                <a:latin typeface="Arial Black"/>
                <a:cs typeface="Arial Black"/>
              </a:rPr>
              <a:t>@</a:t>
            </a:r>
            <a:r>
              <a:rPr sz="3225" baseline="14211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3225" spc="75" baseline="16795" dirty="0">
                <a:solidFill>
                  <a:srgbClr val="FFFFFF"/>
                </a:solidFill>
                <a:latin typeface="Arial Black"/>
                <a:cs typeface="Arial Black"/>
              </a:rPr>
              <a:t>w</a:t>
            </a:r>
            <a:r>
              <a:rPr sz="3225" spc="52" baseline="5167" dirty="0">
                <a:solidFill>
                  <a:srgbClr val="FFFFFF"/>
                </a:solidFill>
                <a:latin typeface="Arial Black"/>
                <a:cs typeface="Arial Black"/>
              </a:rPr>
              <a:t>ww.se</a:t>
            </a:r>
            <a:r>
              <a:rPr sz="3225" spc="-1417" baseline="5167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300" spc="40" dirty="0">
                <a:solidFill>
                  <a:srgbClr val="FFFFFF"/>
                </a:solidFill>
                <a:latin typeface="Arial Black"/>
                <a:cs typeface="Arial Black"/>
              </a:rPr>
              <a:t>á</a:t>
            </a:r>
            <a:r>
              <a:rPr sz="2150" dirty="0">
                <a:solidFill>
                  <a:srgbClr val="FFFFFF"/>
                </a:solidFill>
                <a:latin typeface="Arial Black"/>
                <a:cs typeface="Arial Black"/>
              </a:rPr>
              <a:t>.</a:t>
            </a:r>
            <a:r>
              <a:rPr sz="2150" spc="4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2150" spc="-3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50" spc="-535" dirty="0">
                <a:solidFill>
                  <a:srgbClr val="FFFFFF"/>
                </a:solidFill>
                <a:latin typeface="Arial Black"/>
                <a:cs typeface="Arial Black"/>
              </a:rPr>
              <a:t>d</a:t>
            </a:r>
            <a:r>
              <a:rPr sz="2150" spc="-35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50" spc="-210" dirty="0">
                <a:solidFill>
                  <a:srgbClr val="FFFFFF"/>
                </a:solidFill>
                <a:latin typeface="Arial Black"/>
                <a:cs typeface="Arial Black"/>
              </a:rPr>
              <a:t>u.</a:t>
            </a:r>
            <a:r>
              <a:rPr sz="2150" spc="-409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50" spc="-62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2150" spc="-3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2150" spc="-570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endParaRPr sz="21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2846" y="5933176"/>
            <a:ext cx="2333625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500" b="1" i="1" dirty="0">
                <a:solidFill>
                  <a:srgbClr val="FFFFFF"/>
                </a:solidFill>
                <a:latin typeface="Arial"/>
                <a:cs typeface="Arial"/>
              </a:rPr>
              <a:t>@</a:t>
            </a:r>
            <a:r>
              <a:rPr sz="1500" b="1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00" spc="-100" dirty="0">
                <a:solidFill>
                  <a:srgbClr val="FFFFFF"/>
                </a:solidFill>
                <a:latin typeface="Arial Black"/>
                <a:cs typeface="Arial Black"/>
              </a:rPr>
              <a:t>S</a:t>
            </a:r>
            <a:r>
              <a:rPr sz="1500" spc="-6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10" dirty="0">
                <a:solidFill>
                  <a:srgbClr val="FFFFFF"/>
                </a:solidFill>
                <a:latin typeface="Arial Black"/>
                <a:cs typeface="Arial Black"/>
              </a:rPr>
              <a:t>E</a:t>
            </a:r>
            <a:r>
              <a:rPr sz="1500" spc="-7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5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50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6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8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5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Arial Black"/>
                <a:cs typeface="Arial Black"/>
              </a:rPr>
              <a:t>o</a:t>
            </a:r>
            <a:r>
              <a:rPr sz="1500" spc="-4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1500" spc="-90" dirty="0">
                <a:solidFill>
                  <a:srgbClr val="FFFFFF"/>
                </a:solidFill>
                <a:latin typeface="Arial Black"/>
                <a:cs typeface="Arial Black"/>
              </a:rPr>
              <a:t> u</a:t>
            </a:r>
            <a:r>
              <a:rPr sz="1500" spc="-7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Arial Black"/>
                <a:cs typeface="Arial Black"/>
              </a:rPr>
              <a:t>n</a:t>
            </a:r>
            <a:r>
              <a:rPr sz="1500" spc="-9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dirty="0">
                <a:solidFill>
                  <a:srgbClr val="FFFFFF"/>
                </a:solidFill>
                <a:latin typeface="Arial Black"/>
                <a:cs typeface="Arial Black"/>
              </a:rPr>
              <a:t>i</a:t>
            </a:r>
            <a:r>
              <a:rPr sz="1500" spc="-6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120" dirty="0">
                <a:solidFill>
                  <a:srgbClr val="FFFFFF"/>
                </a:solidFill>
                <a:latin typeface="Arial Black"/>
                <a:cs typeface="Arial Black"/>
              </a:rPr>
              <a:t>c</a:t>
            </a:r>
            <a:r>
              <a:rPr sz="1500" spc="-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500" spc="-50" dirty="0">
                <a:solidFill>
                  <a:srgbClr val="FFFFFF"/>
                </a:solidFill>
                <a:latin typeface="Arial Black"/>
                <a:cs typeface="Arial Black"/>
              </a:rPr>
              <a:t>a</a:t>
            </a:r>
            <a:endParaRPr sz="15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7502" y="5523452"/>
            <a:ext cx="4036695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45"/>
              </a:lnSpc>
              <a:spcBef>
                <a:spcPts val="100"/>
              </a:spcBef>
            </a:pPr>
            <a:r>
              <a:rPr sz="1150" spc="-70" dirty="0">
                <a:solidFill>
                  <a:srgbClr val="FFFFFF"/>
                </a:solidFill>
                <a:latin typeface="Arial Black"/>
                <a:cs typeface="Arial Black"/>
              </a:rPr>
              <a:t>Líneas</a:t>
            </a:r>
            <a:r>
              <a:rPr sz="115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50" spc="-65" dirty="0">
                <a:solidFill>
                  <a:srgbClr val="FFFFFF"/>
                </a:solidFill>
                <a:latin typeface="Arial Black"/>
                <a:cs typeface="Arial Black"/>
              </a:rPr>
              <a:t>de</a:t>
            </a:r>
            <a:r>
              <a:rPr sz="115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50" spc="-60" dirty="0">
                <a:solidFill>
                  <a:srgbClr val="FFFFFF"/>
                </a:solidFill>
                <a:latin typeface="Arial Black"/>
                <a:cs typeface="Arial Black"/>
              </a:rPr>
              <a:t>atención</a:t>
            </a:r>
            <a:r>
              <a:rPr sz="115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50" spc="-130" dirty="0">
                <a:solidFill>
                  <a:srgbClr val="6BC377"/>
                </a:solidFill>
                <a:latin typeface="Arial Black"/>
                <a:cs typeface="Arial Black"/>
              </a:rPr>
              <a:t>at</a:t>
            </a:r>
            <a:r>
              <a:rPr sz="1150" dirty="0">
                <a:solidFill>
                  <a:srgbClr val="6BC377"/>
                </a:solidFill>
                <a:latin typeface="Arial Black"/>
                <a:cs typeface="Arial Black"/>
              </a:rPr>
              <a:t> </a:t>
            </a:r>
            <a:r>
              <a:rPr sz="1150" spc="-55" dirty="0">
                <a:solidFill>
                  <a:srgbClr val="FFFFFF"/>
                </a:solidFill>
                <a:latin typeface="Arial Black"/>
                <a:cs typeface="Arial Black"/>
              </a:rPr>
              <a:t>ciudadano,</a:t>
            </a:r>
            <a:r>
              <a:rPr sz="115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50" spc="-70" dirty="0">
                <a:solidFill>
                  <a:srgbClr val="FFFFFF"/>
                </a:solidFill>
                <a:latin typeface="Arial Black"/>
                <a:cs typeface="Arial Black"/>
              </a:rPr>
              <a:t>empresarioe</a:t>
            </a:r>
            <a:r>
              <a:rPr sz="1150" spc="114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150" dirty="0">
                <a:solidFill>
                  <a:srgbClr val="F4FFEB"/>
                </a:solidFill>
                <a:latin typeface="Arial Black"/>
                <a:cs typeface="Arial Black"/>
              </a:rPr>
              <a:t>y</a:t>
            </a:r>
            <a:r>
              <a:rPr sz="1150" spc="-30" dirty="0">
                <a:solidFill>
                  <a:srgbClr val="F4FFEB"/>
                </a:solidFill>
                <a:latin typeface="Arial Black"/>
                <a:cs typeface="Arial Black"/>
              </a:rPr>
              <a:t> </a:t>
            </a:r>
            <a:r>
              <a:rPr sz="1150" spc="-45" dirty="0">
                <a:solidFill>
                  <a:srgbClr val="FFFFFF"/>
                </a:solidFill>
                <a:latin typeface="Arial Black"/>
                <a:cs typeface="Arial Black"/>
              </a:rPr>
              <a:t>PQRS:</a:t>
            </a:r>
            <a:endParaRPr sz="1150">
              <a:latin typeface="Arial Black"/>
              <a:cs typeface="Arial Black"/>
            </a:endParaRPr>
          </a:p>
          <a:p>
            <a:pPr marL="17145">
              <a:lnSpc>
                <a:spcPts val="1305"/>
              </a:lnSpc>
            </a:pPr>
            <a:r>
              <a:rPr sz="1150" dirty="0">
                <a:solidFill>
                  <a:srgbClr val="44BC42"/>
                </a:solidFill>
                <a:latin typeface="Arial MT"/>
                <a:cs typeface="Arial MT"/>
              </a:rPr>
              <a:t>Bogotá:</a:t>
            </a:r>
            <a:r>
              <a:rPr sz="1150" spc="260" dirty="0">
                <a:solidFill>
                  <a:srgbClr val="44BC42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EFFFEB"/>
                </a:solidFill>
                <a:latin typeface="Arial MT"/>
                <a:cs typeface="Arial MT"/>
              </a:rPr>
              <a:t>+(57)</a:t>
            </a:r>
            <a:r>
              <a:rPr sz="1150" spc="380" dirty="0">
                <a:solidFill>
                  <a:srgbClr val="EFFFEB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D1FFC6"/>
                </a:solidFill>
                <a:latin typeface="Arial MT"/>
                <a:cs typeface="Arial MT"/>
              </a:rPr>
              <a:t>601</a:t>
            </a:r>
            <a:r>
              <a:rPr sz="1150" spc="100" dirty="0">
                <a:solidFill>
                  <a:srgbClr val="D1FFC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FFFFFF"/>
                </a:solidFill>
                <a:latin typeface="Arial MT"/>
                <a:cs typeface="Arial MT"/>
              </a:rPr>
              <a:t>736</a:t>
            </a:r>
            <a:r>
              <a:rPr sz="1150" spc="2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67BF69"/>
                </a:solidFill>
                <a:latin typeface="Arial MT"/>
                <a:cs typeface="Arial MT"/>
              </a:rPr>
              <a:t>60</a:t>
            </a:r>
            <a:r>
              <a:rPr sz="1150" spc="265" dirty="0">
                <a:solidFill>
                  <a:srgbClr val="67BF69"/>
                </a:solidFill>
                <a:latin typeface="Arial MT"/>
                <a:cs typeface="Arial MT"/>
              </a:rPr>
              <a:t> </a:t>
            </a:r>
            <a:r>
              <a:rPr sz="1150" spc="-25" dirty="0">
                <a:solidFill>
                  <a:srgbClr val="6EC169"/>
                </a:solidFill>
                <a:latin typeface="Arial MT"/>
                <a:cs typeface="Arial MT"/>
              </a:rPr>
              <a:t>60</a:t>
            </a:r>
            <a:endParaRPr sz="1150">
              <a:latin typeface="Arial MT"/>
              <a:cs typeface="Arial MT"/>
            </a:endParaRPr>
          </a:p>
          <a:p>
            <a:pPr marL="17145">
              <a:lnSpc>
                <a:spcPts val="1305"/>
              </a:lnSpc>
            </a:pPr>
            <a:r>
              <a:rPr sz="1150" spc="50" dirty="0">
                <a:solidFill>
                  <a:srgbClr val="82B179"/>
                </a:solidFill>
                <a:latin typeface="Arial MT"/>
                <a:cs typeface="Arial MT"/>
              </a:rPr>
              <a:t>Linea</a:t>
            </a:r>
            <a:r>
              <a:rPr sz="1150" spc="75" dirty="0">
                <a:solidFill>
                  <a:srgbClr val="82B179"/>
                </a:solidFill>
                <a:latin typeface="Arial MT"/>
                <a:cs typeface="Arial MT"/>
              </a:rPr>
              <a:t> </a:t>
            </a:r>
            <a:r>
              <a:rPr sz="1150" spc="75" dirty="0">
                <a:solidFill>
                  <a:srgbClr val="118915"/>
                </a:solidFill>
                <a:latin typeface="Arial MT"/>
                <a:cs typeface="Arial MT"/>
              </a:rPr>
              <a:t>gratuita</a:t>
            </a:r>
            <a:r>
              <a:rPr sz="1150" spc="180" dirty="0">
                <a:solidFill>
                  <a:srgbClr val="118915"/>
                </a:solidFill>
                <a:latin typeface="Arial MT"/>
                <a:cs typeface="Arial MT"/>
              </a:rPr>
              <a:t> </a:t>
            </a:r>
            <a:r>
              <a:rPr sz="1150" spc="60" dirty="0">
                <a:solidFill>
                  <a:srgbClr val="318E21"/>
                </a:solidFill>
                <a:latin typeface="Arial MT"/>
                <a:cs typeface="Arial MT"/>
              </a:rPr>
              <a:t>resto</a:t>
            </a:r>
            <a:r>
              <a:rPr sz="1150" spc="180" dirty="0">
                <a:solidFill>
                  <a:srgbClr val="318E21"/>
                </a:solidFill>
                <a:latin typeface="Arial MT"/>
                <a:cs typeface="Arial MT"/>
              </a:rPr>
              <a:t> </a:t>
            </a:r>
            <a:r>
              <a:rPr sz="1150" spc="65" dirty="0">
                <a:solidFill>
                  <a:srgbClr val="0FAA11"/>
                </a:solidFill>
                <a:latin typeface="Arial MT"/>
                <a:cs typeface="Arial MT"/>
              </a:rPr>
              <a:t>del</a:t>
            </a:r>
            <a:r>
              <a:rPr sz="1150" spc="114" dirty="0">
                <a:solidFill>
                  <a:srgbClr val="0FAA11"/>
                </a:solidFill>
                <a:latin typeface="Arial MT"/>
                <a:cs typeface="Arial MT"/>
              </a:rPr>
              <a:t> </a:t>
            </a:r>
            <a:r>
              <a:rPr sz="1150" spc="50" dirty="0">
                <a:solidFill>
                  <a:srgbClr val="67BC60"/>
                </a:solidFill>
                <a:latin typeface="Arial MT"/>
                <a:cs typeface="Arial MT"/>
              </a:rPr>
              <a:t>pais:</a:t>
            </a:r>
            <a:r>
              <a:rPr sz="1150" spc="125" dirty="0">
                <a:solidFill>
                  <a:srgbClr val="67BC60"/>
                </a:solidFill>
                <a:latin typeface="Arial MT"/>
                <a:cs typeface="Arial MT"/>
              </a:rPr>
              <a:t> </a:t>
            </a:r>
            <a:r>
              <a:rPr sz="1150" spc="-90" dirty="0">
                <a:solidFill>
                  <a:srgbClr val="319724"/>
                </a:solidFill>
                <a:latin typeface="Arial MT"/>
                <a:cs typeface="Arial MT"/>
              </a:rPr>
              <a:t>O180OO</a:t>
            </a:r>
            <a:r>
              <a:rPr sz="1150" spc="210" dirty="0">
                <a:solidFill>
                  <a:srgbClr val="319724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AAE8A3"/>
                </a:solidFill>
                <a:latin typeface="Arial MT"/>
                <a:cs typeface="Arial MT"/>
              </a:rPr>
              <a:t>91</a:t>
            </a:r>
            <a:r>
              <a:rPr sz="1150" spc="20" dirty="0">
                <a:solidFill>
                  <a:srgbClr val="AAE8A3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EDFFE8"/>
                </a:solidFill>
                <a:latin typeface="Arial MT"/>
                <a:cs typeface="Arial MT"/>
              </a:rPr>
              <a:t>02</a:t>
            </a:r>
            <a:r>
              <a:rPr sz="1150" spc="120" dirty="0">
                <a:solidFill>
                  <a:srgbClr val="EDFFE8"/>
                </a:solidFill>
                <a:latin typeface="Arial MT"/>
                <a:cs typeface="Arial MT"/>
              </a:rPr>
              <a:t> </a:t>
            </a:r>
            <a:r>
              <a:rPr sz="1150" spc="25" dirty="0">
                <a:solidFill>
                  <a:srgbClr val="2DA03B"/>
                </a:solidFill>
                <a:latin typeface="Arial MT"/>
                <a:cs typeface="Arial MT"/>
              </a:rPr>
              <a:t>70</a:t>
            </a:r>
            <a:endParaRPr sz="1150">
              <a:latin typeface="Arial MT"/>
              <a:cs typeface="Arial MT"/>
            </a:endParaRPr>
          </a:p>
          <a:p>
            <a:pPr marL="17145">
              <a:lnSpc>
                <a:spcPts val="1345"/>
              </a:lnSpc>
            </a:pPr>
            <a:r>
              <a:rPr sz="1150" dirty="0">
                <a:solidFill>
                  <a:srgbClr val="599359"/>
                </a:solidFill>
                <a:latin typeface="Arial MT"/>
                <a:cs typeface="Arial MT"/>
              </a:rPr>
              <a:t>Linea</a:t>
            </a:r>
            <a:r>
              <a:rPr sz="1150" spc="190" dirty="0">
                <a:solidFill>
                  <a:srgbClr val="599359"/>
                </a:solidFill>
                <a:latin typeface="Arial MT"/>
                <a:cs typeface="Arial MT"/>
              </a:rPr>
              <a:t> </a:t>
            </a:r>
            <a:r>
              <a:rPr sz="1150" spc="60" dirty="0">
                <a:solidFill>
                  <a:srgbClr val="7BD16E"/>
                </a:solidFill>
                <a:latin typeface="Arial MT"/>
                <a:cs typeface="Arial MT"/>
              </a:rPr>
              <a:t>nacional:</a:t>
            </a:r>
            <a:r>
              <a:rPr sz="1150" spc="180" dirty="0">
                <a:solidFill>
                  <a:srgbClr val="7BD16E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E8FFE6"/>
                </a:solidFill>
                <a:latin typeface="Arial MT"/>
                <a:cs typeface="Arial MT"/>
              </a:rPr>
              <a:t>+(57)</a:t>
            </a:r>
            <a:r>
              <a:rPr sz="1150" spc="300" dirty="0">
                <a:solidFill>
                  <a:srgbClr val="E8FFE6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388731"/>
                </a:solidFill>
                <a:latin typeface="Arial MT"/>
                <a:cs typeface="Arial MT"/>
              </a:rPr>
              <a:t>601</a:t>
            </a:r>
            <a:r>
              <a:rPr sz="1150" spc="100" dirty="0">
                <a:solidFill>
                  <a:srgbClr val="388731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1F8E2A"/>
                </a:solidFill>
                <a:latin typeface="Arial MT"/>
                <a:cs typeface="Arial MT"/>
              </a:rPr>
              <a:t>546</a:t>
            </a:r>
            <a:r>
              <a:rPr sz="1150" spc="105" dirty="0">
                <a:solidFill>
                  <a:srgbClr val="1F8E2A"/>
                </a:solidFill>
                <a:latin typeface="Arial MT"/>
                <a:cs typeface="Arial MT"/>
              </a:rPr>
              <a:t> </a:t>
            </a:r>
            <a:r>
              <a:rPr sz="1150" dirty="0">
                <a:solidFill>
                  <a:srgbClr val="26972A"/>
                </a:solidFill>
                <a:latin typeface="Arial MT"/>
                <a:cs typeface="Arial MT"/>
              </a:rPr>
              <a:t>15</a:t>
            </a:r>
            <a:r>
              <a:rPr sz="1150" spc="275" dirty="0">
                <a:solidFill>
                  <a:srgbClr val="26972A"/>
                </a:solidFill>
                <a:latin typeface="Arial MT"/>
                <a:cs typeface="Arial MT"/>
              </a:rPr>
              <a:t> </a:t>
            </a:r>
            <a:r>
              <a:rPr sz="1150" spc="25" dirty="0">
                <a:solidFill>
                  <a:srgbClr val="428E44"/>
                </a:solidFill>
                <a:latin typeface="Arial MT"/>
                <a:cs typeface="Arial MT"/>
              </a:rPr>
              <a:t>00</a:t>
            </a:r>
            <a:endParaRPr sz="1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376</Words>
  <Application>Microsoft Office PowerPoint</Application>
  <PresentationFormat>Panorámica</PresentationFormat>
  <Paragraphs>31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Arial MT</vt:lpstr>
      <vt:lpstr>Trebuchet MS</vt:lpstr>
      <vt:lpstr>Office Theme</vt:lpstr>
      <vt:lpstr>Kronos Inventory Control</vt:lpstr>
      <vt:lpstr>Objetivo general</vt:lpstr>
      <vt:lpstr>Objetivo general</vt:lpstr>
      <vt:lpstr>Objetivo especifcos</vt:lpstr>
      <vt:lpstr>Objetivos especíﬁcos</vt:lpstr>
      <vt:lpstr>Casos de uso y formato de especiﬁcación de casos de uso</vt:lpstr>
      <vt:lpstr>Presentación de PowerPoint</vt:lpstr>
      <vt:lpstr>Formato de informe de costos y anilisis de proveedores</vt:lpstr>
      <vt:lpstr>FORMATO DE INFORME DE COSTOS Y ANÁLISIS DE PROVEEDORES</vt:lpstr>
      <vt:lpstr>Cotizaciones</vt:lpstr>
      <vt:lpstr>Cotizaciones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yurley montaña teatino</cp:lastModifiedBy>
  <cp:revision>1</cp:revision>
  <dcterms:created xsi:type="dcterms:W3CDTF">2026-04-04T22:49:30Z</dcterms:created>
  <dcterms:modified xsi:type="dcterms:W3CDTF">2026-04-04T23:03:46Z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2026-03-31T00:00:00Z</vt:filetime>
  </property>
</Properties>
</file>